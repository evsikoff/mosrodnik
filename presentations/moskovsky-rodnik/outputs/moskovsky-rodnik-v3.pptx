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московских парках и оврагах есть родники, к которым люди регулярно приходят на прогулках. Однако заранее узнать, в каком состоянии находится конкретный источник, бывает непросто. Проект «Московский родник» объединяет официальные данные Правительства Москвы и живые наблюдения посетителей. Мы собрали на одной интерактивной карте двести пятьдесят восемь родников столицы.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основе приложения лежит прямая интеграция по API с порталом открытых данных Правительства Москвы. Мы опираемся на официальный набор «Состояние родников», который ведёт Департамент природопользования и охраны окружающей среды города Москвы. В наборе учтены двести пятьдесят восемь источников. При этом анализ сохранённого снимка данных показывает: у шестидесяти девяти родников нет ни одной пробы за всю историю наблюдений, а у восьми — координаты разных лет расходятся более чем на сто метров.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Когда пользователь выбирает родник на карте, прямо над маркером разворачивается объёмная карточка источника. В одной её части собраны официальные химические анализы, год проверки и архив наблюдений. В другой — актуальные отметки и фотографии от посетителей. При отдалении карты карточка аккуратно складывается обратно. Это уже работающий прототип, где все демонстрационные материалы честно отмечены плашкой «Образец».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Любой посетитель может дополнить картину прямо на месте: в пару нажатий отметить, течёт ли вода, удобен ли подход и чисто ли вокруг источника. К наблюдению легко прикрепить свежую фотографию и короткий комментарий, а система автоматически зафиксирует дату и имя автора. Мы отказались от сложной регистрации, чтобы поделиться полезной информацией можно было прямо во время прогулки.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Лабораторная проба и взгляд прохожего отвечают на совершенно разные вопросы. Поэтому мы строго разделяем эти слои в интерфейсе и всегда указываем год проведения анализа. Важно помнить, что открытый набор данных содержит только химические показатели и не включает микробиологию, а отзывы людей не заменяют экспертизу воды. Кроме того, все тестовые записи открыто помечены как «Образец» и никогда не смешиваются с реальной статистикой.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результате проект решает сразу две задачи. Жители получают наглядную и честную картину по каждому знакомому роднику, а городские специалисты — поток структурированных наблюдений, который поможет точнее планировать выездные проверки. Наш следующий шаг — запуск пилота вместе с активными горожанами и экологами. Мы хотим собрать первые реальные отклики, отработать механику сверки противоречивых сигналов и подтвердить пользу сервиса на практике. Рабочий прототип для этого уже готов.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976872" y="5307178"/>
            <a:ext cx="822960" cy="230429"/>
          </a:xfrm>
          <a:prstGeom prst="ellipse">
            <a:avLst/>
          </a:prstGeom>
          <a:ln w="15875">
            <a:solidFill>
              <a:srgbClr val="F3F1EC">
                <a:alpha val="75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702552" y="5230368"/>
            <a:ext cx="1371600" cy="384048"/>
          </a:xfrm>
          <a:prstGeom prst="ellipse">
            <a:avLst/>
          </a:prstGeom>
          <a:ln w="15875">
            <a:solidFill>
              <a:srgbClr val="F3F1EC">
                <a:alpha val="50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428232" y="5153558"/>
            <a:ext cx="1920240" cy="537667"/>
          </a:xfrm>
          <a:prstGeom prst="ellipse">
            <a:avLst/>
          </a:prstGeom>
          <a:ln w="15875">
            <a:solidFill>
              <a:srgbClr val="F3F1EC">
                <a:alpha val="28000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713232" cy="7132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85800" y="1481328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7400" b="1" dirty="0">
                <a:solidFill>
                  <a:srgbClr val="F3F1E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Московский</a:t>
            </a:r>
            <a:endParaRPr lang="en-US" sz="74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400" b="1" dirty="0">
                <a:solidFill>
                  <a:srgbClr val="F3F1E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родник</a:t>
            </a:r>
            <a:endParaRPr lang="en-US" sz="7400" dirty="0"/>
          </a:p>
        </p:txBody>
      </p:sp>
      <p:sp>
        <p:nvSpPr>
          <p:cNvPr id="9" name="Text 4"/>
          <p:cNvSpPr txBox="1"/>
          <p:nvPr/>
        </p:nvSpPr>
        <p:spPr>
          <a:xfrm>
            <a:off x="713232" y="358444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500" dirty="0">
                <a:solidFill>
                  <a:srgbClr val="9FC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Открытые данные</a:t>
            </a:r>
            <a:endParaRPr lang="en-US" sz="2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500" dirty="0">
                <a:solidFill>
                  <a:srgbClr val="9FC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наблюдения жителей</a:t>
            </a:r>
            <a:endParaRPr lang="en-US" sz="2500" dirty="0"/>
          </a:p>
        </p:txBody>
      </p:sp>
      <p:sp>
        <p:nvSpPr>
          <p:cNvPr id="10" name="Text 5"/>
          <p:cNvSpPr txBox="1"/>
          <p:nvPr/>
        </p:nvSpPr>
        <p:spPr>
          <a:xfrm>
            <a:off x="658368" y="461772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258</a:t>
            </a:r>
            <a:endParaRPr lang="en-US" sz="9600" dirty="0"/>
          </a:p>
        </p:txBody>
      </p:sp>
      <p:sp>
        <p:nvSpPr>
          <p:cNvPr id="11" name="Text 6"/>
          <p:cNvSpPr txBox="1"/>
          <p:nvPr/>
        </p:nvSpPr>
        <p:spPr>
          <a:xfrm>
            <a:off x="2788920" y="49560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родников Москвы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одной интерактивной карте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713232" y="6144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3D6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Данные: data.mos.ru, набор № 2454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ИСТОЧНИК ДАННЫХ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A3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Интеграция с открытыми данными Москвы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291840" cy="1298448"/>
          </a:xfrm>
          <a:prstGeom prst="roundRect">
            <a:avLst>
              <a:gd name="adj" fmla="val 9859"/>
            </a:avLst>
          </a:prstGeom>
          <a:solidFill>
            <a:srgbClr val="E3EEF3"/>
          </a:solidFill>
          <a:ln w="12700">
            <a:solidFill>
              <a:srgbClr val="9FC3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984248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data.mos.ru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Портал открытых данных Правительства Москвы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977640" y="2432304"/>
            <a:ext cx="731520" cy="0"/>
          </a:xfrm>
          <a:prstGeom prst="line">
            <a:avLst/>
          </a:prstGeom>
          <a:noFill/>
          <a:ln w="28575">
            <a:solidFill>
              <a:srgbClr val="C8964A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703320" y="2048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по API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0" y="1783080"/>
            <a:ext cx="3840480" cy="1298448"/>
          </a:xfrm>
          <a:prstGeom prst="roundRect">
            <a:avLst>
              <a:gd name="adj" fmla="val 9859"/>
            </a:avLst>
          </a:prstGeom>
          <a:solidFill>
            <a:srgbClr val="E3EEF3"/>
          </a:solidFill>
          <a:ln w="12700">
            <a:solidFill>
              <a:srgbClr val="9FC3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02352" y="1984248"/>
            <a:ext cx="3429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Набор № 2454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«Состояние родников»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 микробиологических показателей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8823960" y="2432304"/>
            <a:ext cx="731520" cy="0"/>
          </a:xfrm>
          <a:prstGeom prst="line">
            <a:avLst/>
          </a:prstGeom>
          <a:noFill/>
          <a:ln w="28575">
            <a:solidFill>
              <a:srgbClr val="C8964A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8549640" y="2048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раз в сутки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692640" y="1783080"/>
            <a:ext cx="1950415" cy="1298448"/>
          </a:xfrm>
          <a:prstGeom prst="roundRect">
            <a:avLst>
              <a:gd name="adj" fmla="val 9859"/>
            </a:avLst>
          </a:prstGeom>
          <a:solidFill>
            <a:srgbClr val="2C3A52"/>
          </a:solidFill>
          <a:ln w="12700">
            <a:solidFill>
              <a:srgbClr val="2C3A5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02536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921240" y="25511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F3F1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Московский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F3F1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родник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3310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94A3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ПОСТАВЩИК НАБОРА ДАННЫХ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35661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Департамент природопользования и охраны окружающей среды города Москвы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13308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258</a:t>
            </a:r>
            <a:endParaRPr lang="en-US" sz="70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1023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родников в наборе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315968" y="413308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69</a:t>
            </a:r>
            <a:endParaRPr lang="en-US" sz="7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440740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315968" y="51023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 единой пробы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 всю историю наблюдений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083296" y="413308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8</a:t>
            </a:r>
            <a:endParaRPr lang="en-US" sz="7000" dirty="0"/>
          </a:p>
        </p:txBody>
      </p:sp>
      <p:sp>
        <p:nvSpPr>
          <p:cNvPr id="24" name="Shape 19"/>
          <p:cNvSpPr/>
          <p:nvPr/>
        </p:nvSpPr>
        <p:spPr>
          <a:xfrm>
            <a:off x="8778240" y="4544568"/>
            <a:ext cx="182880" cy="182880"/>
          </a:xfrm>
          <a:prstGeom prst="ellipse">
            <a:avLst/>
          </a:prstGeom>
          <a:solidFill>
            <a:srgbClr val="9FC3D6"/>
          </a:solidFill>
          <a:ln w="15875">
            <a:solidFill>
              <a:srgbClr val="1F2A3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79408" y="4636008"/>
            <a:ext cx="566928" cy="0"/>
          </a:xfrm>
          <a:prstGeom prst="line">
            <a:avLst/>
          </a:prstGeom>
          <a:noFill/>
          <a:ln w="19050">
            <a:solidFill>
              <a:srgbClr val="C8964A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9564624" y="4544568"/>
            <a:ext cx="182880" cy="182880"/>
          </a:xfrm>
          <a:prstGeom prst="ellipse">
            <a:avLst/>
          </a:prstGeom>
          <a:ln w="15875">
            <a:solidFill>
              <a:srgbClr val="1F2A3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083296" y="51023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координатами, которые в разные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годы расходятся более чем на 100 м</a:t>
            </a:r>
            <a:endParaRPr lang="en-US" sz="15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815584"/>
            <a:ext cx="11094415" cy="38404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48640" y="62910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Снимок данных от 17.04.2026. Каждая точка — родник из набора, пустые — без единой пробы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0"/>
            <a:ext cx="81226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69080" y="0"/>
            <a:ext cx="0" cy="6858000"/>
          </a:xfrm>
          <a:prstGeom prst="line">
            <a:avLst/>
          </a:prstGeom>
          <a:noFill/>
          <a:ln w="9525">
            <a:solidFill>
              <a:srgbClr val="8A94A3">
                <a:alpha val="6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РАБОТАЮЩИЙ ПРОТОТИП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49808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F2A3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Родник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F2A3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раскрывается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F2A3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на карте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02920" y="2724912"/>
            <a:ext cx="493776" cy="493776"/>
          </a:xfrm>
          <a:prstGeom prst="ellipse">
            <a:avLst/>
          </a:prstGeom>
          <a:solidFill>
            <a:srgbClr val="F3F1EC"/>
          </a:solidFill>
          <a:ln w="12700">
            <a:solidFill>
              <a:srgbClr val="F3F1EC"/>
            </a:solidFill>
            <a:prstDash val="solid"/>
          </a:ln>
          <a:effectLst>
            <a:outerShdw sx="100000" sy="100000" kx="0" ky="0" algn="bl" rotWithShape="0" blurRad="76200" dist="19050" dir="5400000">
              <a:srgbClr val="1F2A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770632"/>
            <a:ext cx="402336" cy="402336"/>
          </a:xfrm>
          <a:prstGeom prst="ellipse">
            <a:avLst/>
          </a:prstGeom>
          <a:solidFill>
            <a:srgbClr val="C8964A"/>
          </a:solidFill>
          <a:ln w="15875">
            <a:solidFill>
              <a:srgbClr val="1F2A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6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1936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27706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Официальные анализы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Химический анализ, год пробы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история наблюдений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39510" y="2418080"/>
            <a:ext cx="548640" cy="548640"/>
          </a:xfrm>
          <a:prstGeom prst="ellipse">
            <a:avLst/>
          </a:prstGeom>
          <a:solidFill>
            <a:srgbClr val="F3F1EC"/>
          </a:solidFill>
          <a:ln w="12700">
            <a:solidFill>
              <a:srgbClr val="F3F1EC"/>
            </a:solidFill>
            <a:prstDash val="solid"/>
          </a:ln>
          <a:effectLst>
            <a:outerShdw sx="100000" sy="100000" kx="0" ky="0" algn="bl" rotWithShape="0" blurRad="76200" dist="19050" dir="5400000">
              <a:srgbClr val="1F2A3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85230" y="2463800"/>
            <a:ext cx="457200" cy="457200"/>
          </a:xfrm>
          <a:prstGeom prst="ellipse">
            <a:avLst/>
          </a:prstGeom>
          <a:solidFill>
            <a:srgbClr val="C8964A"/>
          </a:solidFill>
          <a:ln w="15875">
            <a:solidFill>
              <a:srgbClr val="1F2A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85230" y="2463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02920" y="3749040"/>
            <a:ext cx="493776" cy="493776"/>
          </a:xfrm>
          <a:prstGeom prst="ellipse">
            <a:avLst/>
          </a:prstGeom>
          <a:solidFill>
            <a:srgbClr val="F3F1EC"/>
          </a:solidFill>
          <a:ln w="12700">
            <a:solidFill>
              <a:srgbClr val="F3F1EC"/>
            </a:solidFill>
            <a:prstDash val="solid"/>
          </a:ln>
          <a:effectLst>
            <a:outerShdw sx="100000" sy="100000" kx="0" ky="0" algn="bl" rotWithShape="0" blurRad="76200" dist="19050" dir="5400000">
              <a:srgbClr val="1F2A3A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794760"/>
            <a:ext cx="402336" cy="402336"/>
          </a:xfrm>
          <a:prstGeom prst="ellipse">
            <a:avLst/>
          </a:prstGeom>
          <a:solidFill>
            <a:srgbClr val="9FC3D6"/>
          </a:solidFill>
          <a:ln w="15875">
            <a:solidFill>
              <a:srgbClr val="1F2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6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1936" dirty="0"/>
          </a:p>
        </p:txBody>
      </p:sp>
      <p:sp>
        <p:nvSpPr>
          <p:cNvPr id="16" name="Text 13"/>
          <p:cNvSpPr txBox="1"/>
          <p:nvPr/>
        </p:nvSpPr>
        <p:spPr>
          <a:xfrm>
            <a:off x="1115568" y="3794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Наблюдения жителей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Течение, подход, чистота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свежие фото с места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33410" y="1389380"/>
            <a:ext cx="548640" cy="548640"/>
          </a:xfrm>
          <a:prstGeom prst="ellipse">
            <a:avLst/>
          </a:prstGeom>
          <a:solidFill>
            <a:srgbClr val="F3F1EC"/>
          </a:solidFill>
          <a:ln w="12700">
            <a:solidFill>
              <a:srgbClr val="F3F1EC"/>
            </a:solidFill>
            <a:prstDash val="solid"/>
          </a:ln>
          <a:effectLst>
            <a:outerShdw sx="100000" sy="100000" kx="0" ky="0" algn="bl" rotWithShape="0" blurRad="76200" dist="19050" dir="5400000">
              <a:srgbClr val="1F2A3A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9130" y="1435100"/>
            <a:ext cx="457200" cy="457200"/>
          </a:xfrm>
          <a:prstGeom prst="ellipse">
            <a:avLst/>
          </a:prstGeom>
          <a:solidFill>
            <a:srgbClr val="9FC3D6"/>
          </a:solidFill>
          <a:ln w="15875">
            <a:solidFill>
              <a:srgbClr val="1F2A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9130" y="1435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02920" y="4773168"/>
            <a:ext cx="493776" cy="493776"/>
          </a:xfrm>
          <a:prstGeom prst="ellipse">
            <a:avLst/>
          </a:prstGeom>
          <a:solidFill>
            <a:srgbClr val="F3F1EC"/>
          </a:solidFill>
          <a:ln w="12700">
            <a:solidFill>
              <a:srgbClr val="F3F1EC"/>
            </a:solidFill>
            <a:prstDash val="solid"/>
          </a:ln>
          <a:effectLst>
            <a:outerShdw sx="100000" sy="100000" kx="0" ky="0" algn="bl" rotWithShape="0" blurRad="76200" dist="19050" dir="5400000">
              <a:srgbClr val="1F2A3A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4818888"/>
            <a:ext cx="402336" cy="402336"/>
          </a:xfrm>
          <a:prstGeom prst="ellipse">
            <a:avLst/>
          </a:prstGeom>
          <a:solidFill>
            <a:srgbClr val="F3F1EC"/>
          </a:solidFill>
          <a:ln w="19050">
            <a:solidFill>
              <a:srgbClr val="8A94A3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548640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6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1936" dirty="0"/>
          </a:p>
        </p:txBody>
      </p:sp>
      <p:sp>
        <p:nvSpPr>
          <p:cNvPr id="23" name="Text 20"/>
          <p:cNvSpPr txBox="1"/>
          <p:nvPr/>
        </p:nvSpPr>
        <p:spPr>
          <a:xfrm>
            <a:off x="1115568" y="48188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Пометка «Образец»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Демонстрационные отзывы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фото отмечены явно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201410" y="4843780"/>
            <a:ext cx="548640" cy="548640"/>
          </a:xfrm>
          <a:prstGeom prst="ellipse">
            <a:avLst/>
          </a:prstGeom>
          <a:solidFill>
            <a:srgbClr val="F3F1EC"/>
          </a:solidFill>
          <a:ln w="12700">
            <a:solidFill>
              <a:srgbClr val="F3F1EC"/>
            </a:solidFill>
            <a:prstDash val="solid"/>
          </a:ln>
          <a:effectLst>
            <a:outerShdw sx="100000" sy="100000" kx="0" ky="0" algn="bl" rotWithShape="0" blurRad="76200" dist="19050" dir="5400000">
              <a:srgbClr val="1F2A3A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47130" y="4889500"/>
            <a:ext cx="457200" cy="457200"/>
          </a:xfrm>
          <a:prstGeom prst="ellipse">
            <a:avLst/>
          </a:prstGeom>
          <a:solidFill>
            <a:srgbClr val="F3F1EC"/>
          </a:solidFill>
          <a:ln w="19050">
            <a:solidFill>
              <a:srgbClr val="8A94A3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6247130" y="4889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989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94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Карточка разворачивается над маркером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94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складывается при отдалении карты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1691640"/>
            <a:ext cx="4937760" cy="4937760"/>
          </a:xfrm>
          <a:prstGeom prst="ellipse">
            <a:avLst/>
          </a:prstGeom>
          <a:solidFill>
            <a:srgbClr val="E3EEF3"/>
          </a:solidFill>
          <a:ln w="12700">
            <a:solidFill>
              <a:srgbClr val="E3EE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50608" y="1143000"/>
            <a:ext cx="6035040" cy="6035040"/>
          </a:xfrm>
          <a:prstGeom prst="ellipse">
            <a:avLst/>
          </a:prstGeom>
          <a:ln w="15875">
            <a:solidFill>
              <a:srgbClr val="9FC3D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56248" y="548640"/>
            <a:ext cx="7223760" cy="7223760"/>
          </a:xfrm>
          <a:prstGeom prst="ellipse">
            <a:avLst/>
          </a:prstGeom>
          <a:ln w="15875">
            <a:solidFill>
              <a:srgbClr val="9FC3D6">
                <a:alpha val="4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УЧАСТИЕ ЖИТЕЛЕЙ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A3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Жители дополняют картину на месте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732520" y="1691640"/>
            <a:ext cx="2862072" cy="5904472"/>
          </a:xfrm>
          <a:prstGeom prst="roundRect">
            <a:avLst>
              <a:gd name="adj" fmla="val 13419"/>
            </a:avLst>
          </a:prstGeom>
          <a:solidFill>
            <a:srgbClr val="1F2A3A"/>
          </a:solidFill>
          <a:ln w="12700">
            <a:solidFill>
              <a:srgbClr val="1F2A3A"/>
            </a:solidFill>
            <a:prstDash val="solid"/>
          </a:ln>
          <a:effectLst>
            <a:outerShdw sx="100000" sy="100000" kx="0" ky="0" algn="bl" rotWithShape="0" blurRad="228600" dist="76200" dir="5400000">
              <a:srgbClr val="1F2A3A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1819656"/>
            <a:ext cx="2606040" cy="56484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18745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Течёт ли вода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3154680" y="1874520"/>
            <a:ext cx="1155192" cy="420624"/>
          </a:xfrm>
          <a:prstGeom prst="roundRect">
            <a:avLst>
              <a:gd name="adj" fmla="val 50000"/>
            </a:avLst>
          </a:prstGeom>
          <a:solidFill>
            <a:srgbClr val="9FC3D6"/>
          </a:solidFill>
          <a:ln w="15875">
            <a:solidFill>
              <a:srgbClr val="1F2A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96596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1874520"/>
            <a:ext cx="53340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Течёт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419600" y="1874520"/>
            <a:ext cx="1155192" cy="420624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9525">
            <a:solidFill>
              <a:srgbClr val="8A94A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472" y="196596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76800" y="1874520"/>
            <a:ext cx="53340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Слабо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684520" y="1874520"/>
            <a:ext cx="1261872" cy="420624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9525">
            <a:solidFill>
              <a:srgbClr val="8A94A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392" y="196596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41720" y="1874520"/>
            <a:ext cx="64008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Замёрз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056120" y="1874520"/>
            <a:ext cx="1368552" cy="420624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9525">
            <a:solidFill>
              <a:srgbClr val="8A94A3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992" y="1965960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513320" y="1874520"/>
            <a:ext cx="74676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Пересох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48640" y="2542032"/>
            <a:ext cx="7589520" cy="0"/>
          </a:xfrm>
          <a:prstGeom prst="line">
            <a:avLst/>
          </a:prstGeom>
          <a:noFill/>
          <a:ln w="9525">
            <a:solidFill>
              <a:srgbClr val="8A94A3">
                <a:alpha val="4500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48640" y="27889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Можно ли подойти</a:t>
            </a:r>
            <a:endParaRPr lang="en-US" sz="1900" dirty="0"/>
          </a:p>
        </p:txBody>
      </p:sp>
      <p:sp>
        <p:nvSpPr>
          <p:cNvPr id="24" name="Shape 17"/>
          <p:cNvSpPr/>
          <p:nvPr/>
        </p:nvSpPr>
        <p:spPr>
          <a:xfrm>
            <a:off x="3154680" y="2788920"/>
            <a:ext cx="1182624" cy="420624"/>
          </a:xfrm>
          <a:prstGeom prst="roundRect">
            <a:avLst>
              <a:gd name="adj" fmla="val 50000"/>
            </a:avLst>
          </a:prstGeom>
          <a:solidFill>
            <a:srgbClr val="9FC3D6"/>
          </a:solidFill>
          <a:ln w="15875">
            <a:solidFill>
              <a:srgbClr val="1F2A3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3319272" y="2788920"/>
            <a:ext cx="85344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Расчищен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447032" y="278892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9525">
            <a:solidFill>
              <a:srgbClr val="8A94A3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611624" y="2788920"/>
            <a:ext cx="9601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Обледенел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846064" y="2788920"/>
            <a:ext cx="969264" cy="420624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9525">
            <a:solidFill>
              <a:srgbClr val="8A94A3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010656" y="2788920"/>
            <a:ext cx="64008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Закрыт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3456432"/>
            <a:ext cx="7589520" cy="0"/>
          </a:xfrm>
          <a:prstGeom prst="line">
            <a:avLst/>
          </a:prstGeom>
          <a:noFill/>
          <a:ln w="9525">
            <a:solidFill>
              <a:srgbClr val="8A94A3">
                <a:alpha val="4500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548640" y="37033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вокруг родника</a:t>
            </a:r>
            <a:endParaRPr lang="en-US" sz="1900" dirty="0"/>
          </a:p>
        </p:txBody>
      </p:sp>
      <p:sp>
        <p:nvSpPr>
          <p:cNvPr id="32" name="Shape 25"/>
          <p:cNvSpPr/>
          <p:nvPr/>
        </p:nvSpPr>
        <p:spPr>
          <a:xfrm>
            <a:off x="3154680" y="3703320"/>
            <a:ext cx="862584" cy="420624"/>
          </a:xfrm>
          <a:prstGeom prst="roundRect">
            <a:avLst>
              <a:gd name="adj" fmla="val 50000"/>
            </a:avLst>
          </a:prstGeom>
          <a:solidFill>
            <a:srgbClr val="9FC3D6"/>
          </a:solidFill>
          <a:ln w="15875">
            <a:solidFill>
              <a:srgbClr val="1F2A3A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3319272" y="3703320"/>
            <a:ext cx="53340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Чисто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4126992" y="3703320"/>
            <a:ext cx="862584" cy="420624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9525">
            <a:solidFill>
              <a:srgbClr val="8A94A3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291584" y="3703320"/>
            <a:ext cx="53340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Мусор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5099304" y="3703320"/>
            <a:ext cx="1395984" cy="420624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 w="9525">
            <a:solidFill>
              <a:srgbClr val="8A94A3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5263896" y="3703320"/>
            <a:ext cx="106680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Повреждено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548640" y="4370832"/>
            <a:ext cx="7589520" cy="0"/>
          </a:xfrm>
          <a:prstGeom prst="line">
            <a:avLst/>
          </a:prstGeom>
          <a:noFill/>
          <a:ln w="9525">
            <a:solidFill>
              <a:srgbClr val="8A94A3">
                <a:alpha val="4500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48640" y="49194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Фото с места</a:t>
            </a:r>
            <a:endParaRPr lang="en-US" sz="19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4617720"/>
            <a:ext cx="1353312" cy="1014984"/>
          </a:xfrm>
          <a:prstGeom prst="rect">
            <a:avLst/>
          </a:prstGeom>
        </p:spPr>
      </p:pic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4617720"/>
            <a:ext cx="1353312" cy="1014984"/>
          </a:xfrm>
          <a:prstGeom prst="rect">
            <a:avLst/>
          </a:prstGeom>
        </p:spPr>
      </p:pic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7336" y="4617720"/>
            <a:ext cx="1353312" cy="1014984"/>
          </a:xfrm>
          <a:prstGeom prst="rect">
            <a:avLst/>
          </a:prstGeom>
        </p:spPr>
      </p:pic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989320"/>
            <a:ext cx="420624" cy="420624"/>
          </a:xfrm>
          <a:prstGeom prst="ellipse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097280" y="5989320"/>
            <a:ext cx="786384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Гость-синица 4789</a:t>
            </a:r>
            <a:pPr indent="0" marL="0">
              <a:buNone/>
            </a:pPr>
            <a:r>
              <a:rPr lang="en-US" sz="1450" dirty="0">
                <a:solidFill>
                  <a:srgbClr val="1F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дата и автор сохраняются вместе с отметкой, без регистрации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ПРОЗРАЧНОСТЬ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3F1E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Доверие начинается с прозрачности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C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Проба и взгляд прохожего отвечают на разные вопросы, поэтому в интерфейсе это отдельные слои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422392" cy="2697480"/>
          </a:xfrm>
          <a:prstGeom prst="roundRect">
            <a:avLst>
              <a:gd name="adj" fmla="val 5424"/>
            </a:avLst>
          </a:prstGeom>
          <a:solidFill>
            <a:srgbClr val="1F2A3A"/>
          </a:solidFill>
          <a:ln w="12700">
            <a:solidFill>
              <a:srgbClr val="1F2A3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377440"/>
            <a:ext cx="384048" cy="38404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377440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682496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ОФИЦИАЛЬНЫЕ ДАННЫЕ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877824" y="294436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F1E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Что показал анализ и когда?</a:t>
            </a:r>
            <a:endParaRPr lang="en-US" sz="2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675888"/>
            <a:ext cx="347472" cy="34747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89888" y="365760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 анализа указан рядом с результатом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206240"/>
            <a:ext cx="347472" cy="34747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89888" y="418795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Только химические показатели, набор № 2454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6217920" y="2103120"/>
            <a:ext cx="5422392" cy="2697480"/>
          </a:xfrm>
          <a:prstGeom prst="roundRect">
            <a:avLst>
              <a:gd name="adj" fmla="val 5424"/>
            </a:avLst>
          </a:prstGeom>
          <a:solidFill>
            <a:srgbClr val="1F2A3A"/>
          </a:solidFill>
          <a:ln w="12700">
            <a:solidFill>
              <a:srgbClr val="1F2A3A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377440"/>
            <a:ext cx="384048" cy="38404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967728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9FC3D6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НАБЛЮДЕНИЯ ЖИТЕЛЕЙ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6547104" y="294436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F1E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Что у родника сейчас?</a:t>
            </a:r>
            <a:endParaRPr lang="en-US" sz="26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3675888"/>
            <a:ext cx="347472" cy="34747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059168" y="365760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Дата и автор есть у каждой отметки</a:t>
            </a:r>
            <a:endParaRPr lang="en-US" sz="15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7104" y="4206240"/>
            <a:ext cx="347472" cy="34747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059168" y="418795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заменяют лабораторный анализ воды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548640" y="5349240"/>
            <a:ext cx="621792" cy="621792"/>
          </a:xfrm>
          <a:prstGeom prst="ellipse">
            <a:avLst/>
          </a:prstGeom>
          <a:solidFill>
            <a:srgbClr val="9FC3D6"/>
          </a:solidFill>
          <a:ln w="12700">
            <a:solidFill>
              <a:srgbClr val="9FC3D6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5477256"/>
            <a:ext cx="365760" cy="36576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389888" y="53675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Микробиология в наборе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проверяется</a:t>
            </a:r>
            <a:endParaRPr lang="en-US" sz="1500" dirty="0"/>
          </a:p>
        </p:txBody>
      </p:sp>
      <p:sp>
        <p:nvSpPr>
          <p:cNvPr id="26" name="Shape 15"/>
          <p:cNvSpPr/>
          <p:nvPr/>
        </p:nvSpPr>
        <p:spPr>
          <a:xfrm>
            <a:off x="4315968" y="5349240"/>
            <a:ext cx="621792" cy="621792"/>
          </a:xfrm>
          <a:prstGeom prst="ellipse">
            <a:avLst/>
          </a:prstGeom>
          <a:solidFill>
            <a:srgbClr val="9FC3D6"/>
          </a:solidFill>
          <a:ln w="12700">
            <a:solidFill>
              <a:srgbClr val="9FC3D6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84" y="5477256"/>
            <a:ext cx="365760" cy="36576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5157216" y="53675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Воду из родников пить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только после кипячения</a:t>
            </a:r>
            <a:endParaRPr lang="en-US" sz="1500" dirty="0"/>
          </a:p>
        </p:txBody>
      </p:sp>
      <p:sp>
        <p:nvSpPr>
          <p:cNvPr id="29" name="Shape 17"/>
          <p:cNvSpPr/>
          <p:nvPr/>
        </p:nvSpPr>
        <p:spPr>
          <a:xfrm>
            <a:off x="8083296" y="5486400"/>
            <a:ext cx="896112" cy="347472"/>
          </a:xfrm>
          <a:prstGeom prst="roundRect">
            <a:avLst>
              <a:gd name="adj" fmla="val 26316"/>
            </a:avLst>
          </a:prstGeom>
          <a:ln w="15875">
            <a:solidFill>
              <a:srgbClr val="9FC3D6"/>
            </a:solidFill>
            <a:prstDash val="dash"/>
          </a:ln>
        </p:spPr>
      </p:sp>
      <p:sp>
        <p:nvSpPr>
          <p:cNvPr id="30" name="Text 18"/>
          <p:cNvSpPr txBox="1"/>
          <p:nvPr/>
        </p:nvSpPr>
        <p:spPr>
          <a:xfrm>
            <a:off x="8083296" y="54864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C3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Образец</a:t>
            </a:r>
            <a:endParaRPr lang="en-US" sz="1250" dirty="0"/>
          </a:p>
        </p:txBody>
      </p:sp>
      <p:sp>
        <p:nvSpPr>
          <p:cNvPr id="31" name="Text 19"/>
          <p:cNvSpPr txBox="1"/>
          <p:nvPr/>
        </p:nvSpPr>
        <p:spPr>
          <a:xfrm>
            <a:off x="9107424" y="53675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Демонстрационные записи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входят в статистику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0"/>
            <a:ext cx="633953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017520"/>
            <a:ext cx="6339535" cy="38404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0"/>
            <a:ext cx="82296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ПОЛЬЗА И ПЛАН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749808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3F1E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От карты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3F1E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к городскому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3F1E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мониторингу</a:t>
            </a:r>
            <a:endParaRPr lang="en-US" sz="36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50" kern="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ЖИТЕЛЯМ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319125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Понятная и честная картина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каждому знакомому роднику</a:t>
            </a:r>
            <a:endParaRPr lang="en-US" sz="19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50" kern="0" dirty="0">
                <a:solidFill>
                  <a:srgbClr val="C8964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ГОРОДУ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439826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Структурированные наблюдения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планирования выездных проверок</a:t>
            </a:r>
            <a:endParaRPr lang="en-US" sz="1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870448"/>
            <a:ext cx="1737360" cy="50673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812280" y="5532120"/>
            <a:ext cx="2103120" cy="0"/>
          </a:xfrm>
          <a:prstGeom prst="line">
            <a:avLst/>
          </a:prstGeom>
          <a:noFill/>
          <a:ln w="25400">
            <a:solidFill>
              <a:srgbClr val="F3F1E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8915400" y="5532120"/>
            <a:ext cx="2103120" cy="0"/>
          </a:xfrm>
          <a:prstGeom prst="line">
            <a:avLst/>
          </a:prstGeom>
          <a:noFill/>
          <a:ln w="25400">
            <a:solidFill>
              <a:srgbClr val="F3F1EC">
                <a:alpha val="70000"/>
              </a:srgbClr>
            </a:solidFill>
            <a:prstDash val="dash"/>
          </a:ln>
        </p:spPr>
      </p:sp>
      <p:sp>
        <p:nvSpPr>
          <p:cNvPr id="14" name="Shape 8"/>
          <p:cNvSpPr/>
          <p:nvPr/>
        </p:nvSpPr>
        <p:spPr>
          <a:xfrm>
            <a:off x="6675120" y="5394960"/>
            <a:ext cx="274320" cy="274320"/>
          </a:xfrm>
          <a:prstGeom prst="ellipse">
            <a:avLst/>
          </a:prstGeom>
          <a:solidFill>
            <a:srgbClr val="9FC3D6"/>
          </a:solidFill>
          <a:ln w="25400">
            <a:solidFill>
              <a:srgbClr val="F3F1E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549640" y="5166360"/>
            <a:ext cx="731520" cy="731520"/>
          </a:xfrm>
          <a:prstGeom prst="ellipse">
            <a:avLst/>
          </a:prstGeom>
          <a:ln w="15875">
            <a:solidFill>
              <a:srgbClr val="C8964A">
                <a:alpha val="65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723376" y="5340096"/>
            <a:ext cx="384048" cy="384048"/>
          </a:xfrm>
          <a:prstGeom prst="ellipse">
            <a:avLst/>
          </a:prstGeom>
          <a:solidFill>
            <a:srgbClr val="C8964A"/>
          </a:solidFill>
          <a:ln w="25400">
            <a:solidFill>
              <a:srgbClr val="F3F1EC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0881360" y="5394960"/>
            <a:ext cx="274320" cy="274320"/>
          </a:xfrm>
          <a:prstGeom prst="ellipse">
            <a:avLst/>
          </a:prstGeom>
          <a:solidFill>
            <a:srgbClr val="2C3A52"/>
          </a:solidFill>
          <a:ln w="25400">
            <a:solidFill>
              <a:srgbClr val="F3F1E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836408" y="4672584"/>
            <a:ext cx="2157984" cy="365760"/>
          </a:xfrm>
          <a:prstGeom prst="roundRect">
            <a:avLst>
              <a:gd name="adj" fmla="val 50000"/>
            </a:avLst>
          </a:prstGeom>
          <a:solidFill>
            <a:srgbClr val="C8964A"/>
          </a:solidFill>
          <a:ln w="12700">
            <a:solidFill>
              <a:srgbClr val="C8964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836408" y="467258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1F2A3A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806440" y="58613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Прототип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работает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909560" y="58613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 с жителями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экологами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0012680" y="58613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Городской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мониторинг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Variable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Московский родник. Открытые данные и наблюдения жителей</dc:title>
  <dc:subject>PptxGenJS Presentation</dc:subject>
  <dc:creator>Московский родник</dc:creator>
  <cp:lastModifiedBy>Московский родник</cp:lastModifiedBy>
  <cp:revision>1</cp:revision>
  <dcterms:created xsi:type="dcterms:W3CDTF">2026-10-29T20:59:51Z</dcterms:created>
  <dcterms:modified xsi:type="dcterms:W3CDTF">2026-10-29T20:59:51Z</dcterms:modified>
</cp:coreProperties>
</file>